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3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400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4890"/>
                </a:solidFill>
                <a:latin typeface="Aptos Display"/>
              </a:rPr>
              <a:t>SpriCo Target Setup
and Interactive Audit</a:t>
            </a:r>
          </a:p>
          <a:p>
            <a:r>
              <a:rPr sz="1500">
                <a:solidFill>
                  <a:srgbClr val="5C5C5C"/>
                </a:solidFill>
                <a:latin typeface="Aptos"/>
              </a:rPr>
              <a:t>OpenAI and Gemini retrieval-backed targets audited through the same Interactive Audit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005840"/>
            <a:ext cx="384048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79" y="1005840"/>
            <a:ext cx="3840480" cy="146304"/>
          </a:xfrm>
          <a:prstGeom prst="rect">
            <a:avLst/>
          </a:prstGeom>
          <a:solidFill>
            <a:srgbClr val="227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62671" y="1207008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 Display"/>
              </a:rPr>
              <a:t>Demo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1" y="1572768"/>
            <a:ext cx="351129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Target setup for Legal, Hospital, and HR corpora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Interactive Audit with shared scoring and evidence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468880"/>
            <a:ext cx="384048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2468880"/>
            <a:ext cx="3840480" cy="146304"/>
          </a:xfrm>
          <a:prstGeom prst="rect">
            <a:avLst/>
          </a:prstGeom>
          <a:solidFill>
            <a:srgbClr val="419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62671" y="2670048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 Display"/>
              </a:rPr>
              <a:t>Key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71" y="3035808"/>
            <a:ext cx="351129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SpriCo remains the audit layer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Provider-native retrieval stores handle document 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07040" cy="141732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10607040" cy="146304"/>
          </a:xfrm>
          <a:prstGeom prst="rect">
            <a:avLst/>
          </a:prstGeom>
          <a:solidFill>
            <a:srgbClr val="C6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41648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 Display"/>
              </a:rPr>
              <a:t>Platform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407408"/>
            <a:ext cx="10277856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No separate legal or HR search product was built for the demo.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Configured retrieval-backed targets are activated once, then audited from the same Interactive Audit screen used for other target types.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5C5C"/>
                </a:solidFill>
              </a:rPr>
              <a:t>SpriCo AI Audit Plateform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3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34890"/>
                </a:solidFill>
                <a:latin typeface="Aptos Display"/>
              </a:rPr>
              <a:t>Configured Retrieval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5C5C"/>
                </a:solidFill>
                <a:latin typeface="Aptos"/>
              </a:rPr>
              <a:t>Three configured targets demonstrate the same audit workflow across different corpora and providers.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657600" cy="33832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657600" cy="146304"/>
          </a:xfrm>
          <a:prstGeom prst="rect">
            <a:avLst/>
          </a:prstGeom>
          <a:solidFill>
            <a:srgbClr val="227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5564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 Display"/>
              </a:rPr>
              <a:t>1. SpriCo Hospital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21408"/>
            <a:ext cx="3328416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Target type: OpenAIVectorStoreTarget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Model: gpt-4.1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Endpoint: https://api.openai.com/v1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Source files: patient and hospital documents uploaded into an OpenAI vector store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554480"/>
            <a:ext cx="3657600" cy="33832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554480"/>
            <a:ext cx="3657600" cy="146304"/>
          </a:xfrm>
          <a:prstGeom prst="rect">
            <a:avLst/>
          </a:prstGeom>
          <a:solidFill>
            <a:srgbClr val="419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75564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 Display"/>
              </a:rPr>
              <a:t>2. SpriCo Legal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2121408"/>
            <a:ext cx="3328416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Target type: OpenAIVectorStoreTarget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Model: gpt-4.1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Endpoint: https://api.openai.com/v1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Source files: Indian Supreme Court judgment PDFs uploaded into an OpenAI vector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554480"/>
            <a:ext cx="3657600" cy="33832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554480"/>
            <a:ext cx="3657600" cy="146304"/>
          </a:xfrm>
          <a:prstGeom prst="rect">
            <a:avLst/>
          </a:prstGeom>
          <a:solidFill>
            <a:srgbClr val="C6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75564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 Display"/>
              </a:rPr>
              <a:t>3. SpriCo HR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2121408"/>
            <a:ext cx="3328416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Target type: GeminiFileSearchTarget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Model: gemini-2.5-flash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Endpoint: https://generativelanguage.googleapis.com/v1beta/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Source files: HR markdown documents uploaded into a Gemini File Search 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66360"/>
            <a:ext cx="11119104" cy="9144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166360"/>
            <a:ext cx="11119104" cy="146304"/>
          </a:xfrm>
          <a:prstGeom prst="rect">
            <a:avLst/>
          </a:prstGeom>
          <a:solidFill>
            <a:srgbClr val="13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367528"/>
            <a:ext cx="108447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 Display"/>
              </a:rPr>
              <a:t>Common Configuration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733288"/>
            <a:ext cx="10789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Each target stores a display name, provider type, endpoint, model, retrieval_store_id, and encrypted API credential.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40080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5C5C"/>
                </a:solidFill>
              </a:rPr>
              <a:t>SpriCo AI Audit Plateform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3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34890"/>
                </a:solidFill>
                <a:latin typeface="Aptos Display"/>
              </a:rPr>
              <a:t>How The Retrieval Stores Were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5C5C"/>
                </a:solidFill>
                <a:latin typeface="Aptos"/>
              </a:rPr>
              <a:t>SpriCo connects to provider-native retrieval storage rather than maintaining a separate local search subsystem.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394960" cy="32918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394960" cy="146304"/>
          </a:xfrm>
          <a:prstGeom prst="rect">
            <a:avLst/>
          </a:prstGeom>
          <a:solidFill>
            <a:srgbClr val="227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01368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 Display"/>
              </a:rPr>
              <a:t>OpenAI Retrieval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67128"/>
            <a:ext cx="5065776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Source documents were prepared as .pdf files or provider-supported file content.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Files were uploaded into OpenAI-managed retrieval storage.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An OpenAI vector store was created and its store ID was saved in SpriCo target configuration as retrieval_store_id.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Interactive Audit then queried the configured store through OpenAIVectorStoreTarget.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394960" cy="32918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600200"/>
            <a:ext cx="5394960" cy="146304"/>
          </a:xfrm>
          <a:prstGeom prst="rect">
            <a:avLst/>
          </a:prstGeom>
          <a:solidFill>
            <a:srgbClr val="419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801368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 Display"/>
              </a:rPr>
              <a:t>Gemini Retrieval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2167128"/>
            <a:ext cx="5065776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HR source records were prepared as .md files.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The markdown files were uploaded into a Gemini File Search store.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The resulting store ID followed the fileSearchStores/... pattern and was saved as retrieval_store_id.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Interactive Audit then queried the configured store through GeminiFileSearchTarget.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66360"/>
            <a:ext cx="10972800" cy="96012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166360"/>
            <a:ext cx="10972800" cy="146304"/>
          </a:xfrm>
          <a:prstGeom prst="rect">
            <a:avLst/>
          </a:prstGeom>
          <a:solidFill>
            <a:srgbClr val="C6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367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 Display"/>
              </a:rPr>
              <a:t>Why .pdf And 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733288"/>
            <a:ext cx="1064361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.pdf preserves document-style legal and hospital records. .md keeps structured HR content easy to manage and retrieve. SpriCo remains provider-agnostic at the audit layer.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0080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5C5C"/>
                </a:solidFill>
              </a:rPr>
              <a:t>SpriCo AI Audit Plateform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3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34890"/>
                </a:solidFill>
                <a:latin typeface="Aptos Display"/>
              </a:rPr>
              <a:t>Target Configuration In SpriCo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5C5C"/>
                </a:solidFill>
                <a:latin typeface="Aptos"/>
              </a:rPr>
              <a:t>Each retrieval-backed provider store is registered once as a normal auditable target.</a:t>
            </a:r>
          </a:p>
        </p:txBody>
      </p:sp>
      <p:pic>
        <p:nvPicPr>
          <p:cNvPr id="5" name="Picture 4" descr="Targ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315200" cy="4983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417320"/>
            <a:ext cx="7315200" cy="4983480"/>
          </a:xfrm>
          <a:prstGeom prst="roundRect">
            <a:avLst/>
          </a:prstGeom>
          <a:noFill/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554480"/>
            <a:ext cx="3383280" cy="13716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38160" y="1554480"/>
            <a:ext cx="3383280" cy="146304"/>
          </a:xfrm>
          <a:prstGeom prst="rect">
            <a:avLst/>
          </a:prstGeom>
          <a:solidFill>
            <a:srgbClr val="13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7556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 Display"/>
              </a:rPr>
              <a:t>What This Screen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2752" y="2121408"/>
            <a:ext cx="305409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Saved targets with display name, target type, model, endpoint, and retrieval_store_id.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063240"/>
            <a:ext cx="3383280" cy="13258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3063240"/>
            <a:ext cx="3383280" cy="146304"/>
          </a:xfrm>
          <a:prstGeom prst="rect">
            <a:avLst/>
          </a:prstGeom>
          <a:solidFill>
            <a:srgbClr val="227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326440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 Display"/>
              </a:rPr>
              <a:t>OpenAI Targets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3630168"/>
            <a:ext cx="3054096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Hospital and Legal are configured as OpenAIVectorStoreTarget instances backed by OpenAI vector stores.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526280"/>
            <a:ext cx="3383280" cy="150876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4526280"/>
            <a:ext cx="3383280" cy="146304"/>
          </a:xfrm>
          <a:prstGeom prst="rect">
            <a:avLst/>
          </a:prstGeom>
          <a:solidFill>
            <a:srgbClr val="419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47274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 Display"/>
              </a:rPr>
              <a:t>Gemini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5093208"/>
            <a:ext cx="3054096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HR is configured as GeminiFileSearchTarget backed by a Gemini File Search store.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0080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5C5C"/>
                </a:solidFill>
              </a:rPr>
              <a:t>SpriCo AI Audit Plateform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3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34890"/>
                </a:solidFill>
                <a:latin typeface="Aptos Display"/>
              </a:rPr>
              <a:t>Interactive Audit Execution And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5C5C"/>
                </a:solidFill>
                <a:latin typeface="Aptos"/>
              </a:rPr>
              <a:t>The same SpriCo audit interface is used after a retrieval-backed target is activated.</a:t>
            </a:r>
          </a:p>
        </p:txBody>
      </p:sp>
      <p:pic>
        <p:nvPicPr>
          <p:cNvPr id="5" name="Picture 4" descr="Aud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818120" cy="5074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417320"/>
            <a:ext cx="7818120" cy="5074920"/>
          </a:xfrm>
          <a:prstGeom prst="roundRect">
            <a:avLst/>
          </a:prstGeom>
          <a:noFill/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49640" y="1572768"/>
            <a:ext cx="3063240" cy="10972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9640" y="1572768"/>
            <a:ext cx="3063240" cy="146304"/>
          </a:xfrm>
          <a:prstGeom prst="rect">
            <a:avLst/>
          </a:prstGeom>
          <a:solidFill>
            <a:srgbClr val="227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4232" y="1773936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 Display"/>
              </a:rPr>
              <a:t>1. Activate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4232" y="2139696"/>
            <a:ext cx="273405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The active target display name appears in the Interactive Audit header.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2743200"/>
            <a:ext cx="3063240" cy="1261872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49640" y="2743200"/>
            <a:ext cx="3063240" cy="146304"/>
          </a:xfrm>
          <a:prstGeom prst="rect">
            <a:avLst/>
          </a:prstGeom>
          <a:solidFill>
            <a:srgbClr val="419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2944368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 Display"/>
              </a:rPr>
              <a:t>2. Ask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4232" y="3310128"/>
            <a:ext cx="2734056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The auditor sends a privacy, prompt-injection, or document-grounded factual query through the normal chat 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4114800"/>
            <a:ext cx="3063240" cy="1664208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49640" y="4114800"/>
            <a:ext cx="3063240" cy="146304"/>
          </a:xfrm>
          <a:prstGeom prst="rect">
            <a:avLst/>
          </a:prstGeom>
          <a:solidFill>
            <a:srgbClr val="C6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4315968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 Display"/>
              </a:rPr>
              <a:t>3. Same Evaluator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4681728"/>
            <a:ext cx="2734056" cy="9326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SpriCo shows verdict, risk, safety, refusal, outcome, and score. Retrieval evidence is preserved for review under Show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0080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5C5C"/>
                </a:solidFill>
              </a:rPr>
              <a:t>SpriCo AI Audit Plateform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